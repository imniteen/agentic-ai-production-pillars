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8" r:id="rId10"/>
    <p:sldId id="272" r:id="rId11"/>
    <p:sldId id="275" r:id="rId12"/>
    <p:sldId id="273" r:id="rId13"/>
    <p:sldId id="277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5033" autoAdjust="0"/>
  </p:normalViewPr>
  <p:slideViewPr>
    <p:cSldViewPr snapToGrid="0">
      <p:cViewPr varScale="1">
        <p:scale>
          <a:sx n="70" d="100"/>
          <a:sy n="70" d="100"/>
        </p:scale>
        <p:origin x="31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298C9-DDD7-4980-A327-235479F9BF8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94CC3-2C89-43C7-893D-A28318A50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2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94CC3-2C89-43C7-893D-A28318A50C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32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94CC3-2C89-43C7-893D-A28318A50C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4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51BF4-6AC2-696E-C590-A751F7895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04AE5-FFE3-EA0C-A46A-59025FE8D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53B58-C7CA-5C5A-023F-1A1F72B76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C0E02-C1E7-45B8-4639-B8B5E51BE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94CC3-2C89-43C7-893D-A28318A50C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57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94CC3-2C89-43C7-893D-A28318A50C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2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0E3F-5348-3CE2-C524-EAA96DB77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1F5B1-70B4-BCF8-532D-F658EE340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59594-CF22-8D7C-6EEC-47920F74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CD61-09E7-9631-F123-E68A1E5B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70D8B-3113-5B56-DFA1-CB939BEE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1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B1D2-A38B-ADCD-7FCF-76B8A99B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A5FDD-B30F-9F01-A44A-65EA47BA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7E8FB-2C83-FA5D-96A8-5D191A3F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529E3-CF90-A1B5-DA1F-E3613008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4C6A4-8F35-C904-E41E-C3178EB3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2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01EB-762C-8F66-4A92-E74B74E7E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3156D-9690-4FFF-026D-EFED1A163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17F57-8CA5-E51A-4697-FDA66C6E4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87A06-B5FE-E266-3777-D6C98C0A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90B9C-AB80-7625-C2B2-5E95BB6F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8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9EB4-2A89-6018-F05A-C443E9596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EF081-D533-D7E4-BA21-1501625872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0F63D-E85F-B45E-6D6E-5008F483F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9CF88-740B-C805-D80C-D705C610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28D39-8766-7FDF-7BAC-73A790FE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597D3-C28D-67F9-EE6C-D4CE6B46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2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E108-8CF1-5B1B-EA5C-8C53F69E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95DB5-7B70-9070-21B1-71A947A6E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E0D0A-0512-7452-EFA1-12791E289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C2A20-149E-3372-0452-B762D6E5A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0744BA-F98B-7BC2-38A5-00877DBB1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6891A-11B6-F114-A275-852781E5A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E8C07-0F53-601B-4380-83E2F9C0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2926D5-4C01-B194-5E56-7EAB2E9E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1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F803-6344-93A9-81A7-C26EF699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88C4EC-C75D-29BB-AB7C-BD6F61B1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4AA4E-813C-A246-7309-08791B90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6659A-9F15-68CD-1FAD-13244ABF0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6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71A33-9B4A-73A1-EF4E-56AD9C75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F73486-DAB0-337E-DE89-274C95BE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6B717-7890-71CB-1EC2-4680E89F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94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D88F-1D27-CFC3-C41A-61CA60818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B5D69-88B2-BBB7-1FBD-F59C4C941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31272-2A61-3C70-0AD1-E6E2A5629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D4D02-DC21-D208-4CCC-C7EE93B9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E69D-A6AC-17D1-8B97-A4143D17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23ECE-F490-67BF-CF76-A8464D03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5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AA3D-A410-158E-FED0-1595E2949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B2DBC-40A1-DAF6-2043-FE92D58A6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EE31B-460A-455F-2D23-82794C3D8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A1A66-3324-4001-BBC1-3BA440F0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7749A-FC4D-8ED3-F72F-FDD97CAC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B4E5-F671-B961-266F-C3927754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95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DDE0-DE65-6A39-D2D1-07E3E2E0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39C76-5CE7-3FB8-60A1-010A0C28D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BDB0A-9C87-13DF-7527-F7891251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FC1CE-6EA6-9C84-6E1C-EAB7EED3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D4FF7-D3E6-BDE4-AD7A-4C4A3D8B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53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675BA-E83B-233E-9CA9-5D14B1B06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EB0AB-3F81-0B5E-3B70-54B63DE99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8FF32-AEDE-C5A7-3587-C7B07EA23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460D2-B6F0-622B-B032-0F3CAE7B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D4B85-6E0B-D7CF-6CE4-E1C5DD49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9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2C933-9415-8CA8-E64D-4423CE755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733EB-6817-CFC2-D1AD-D3E4BB6F8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E4BB7-DC95-43DC-1B23-F97BB88FC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A3BA0-00EF-454F-99D5-C923681C5C26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3D7B6-5B64-58D6-5C9C-758962062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773E2-54C4-5F2F-AF5D-D480B5DD5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AD129-A95D-4AB8-B847-7B9C2F4B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0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11" Type="http://schemas.openxmlformats.org/officeDocument/2006/relationships/image" Target="../media/image1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640080" y="4419600"/>
            <a:ext cx="10908792" cy="120396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92500"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Poppins"/>
              </a:rPr>
              <a:t>Agentic AI Applications</a:t>
            </a:r>
            <a:br>
              <a:rPr lang="en-US" sz="3600" b="0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</a:br>
            <a:r>
              <a:rPr lang="en-US" sz="35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Poppins"/>
              </a:rPr>
              <a:t>10% Magic</a:t>
            </a:r>
            <a:r>
              <a:rPr lang="en-US" sz="3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Poppins"/>
              </a:rPr>
              <a:t>, </a:t>
            </a:r>
            <a:r>
              <a:rPr lang="en-US" sz="35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Poppins"/>
              </a:rPr>
              <a:t>90% Engineering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98EB4-AB47-DE94-7ACF-71FC36A21898}"/>
              </a:ext>
            </a:extLst>
          </p:cNvPr>
          <p:cNvSpPr txBox="1"/>
          <p:nvPr/>
        </p:nvSpPr>
        <p:spPr>
          <a:xfrm>
            <a:off x="640080" y="5669280"/>
            <a:ext cx="10908792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Lato"/>
              </a:rPr>
              <a:t>Deepak Agarwal  &amp;  Niteen Badgujar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 r="18258" b="2"/>
          <a:stretch>
            <a:fillRect/>
          </a:stretch>
        </p:blipFill>
        <p:spPr>
          <a:xfrm>
            <a:off x="6" y="-11"/>
            <a:ext cx="6095994" cy="4194796"/>
          </a:xfrm>
          <a:custGeom>
            <a:avLst/>
            <a:gdLst/>
            <a:ahLst/>
            <a:cxnLst/>
            <a:rect l="l" t="t" r="r" b="b"/>
            <a:pathLst>
              <a:path w="6002835" h="4194796">
                <a:moveTo>
                  <a:pt x="0" y="0"/>
                </a:moveTo>
                <a:lnTo>
                  <a:pt x="5999418" y="0"/>
                </a:lnTo>
                <a:lnTo>
                  <a:pt x="5996190" y="32760"/>
                </a:lnTo>
                <a:cubicBezTo>
                  <a:pt x="5998706" y="293110"/>
                  <a:pt x="5983874" y="553460"/>
                  <a:pt x="5997116" y="813682"/>
                </a:cubicBezTo>
                <a:cubicBezTo>
                  <a:pt x="6007314" y="1015047"/>
                  <a:pt x="6000824" y="1216284"/>
                  <a:pt x="5997116" y="1417522"/>
                </a:cubicBezTo>
                <a:cubicBezTo>
                  <a:pt x="5989967" y="1803471"/>
                  <a:pt x="6000824" y="2188911"/>
                  <a:pt x="5996190" y="2574351"/>
                </a:cubicBezTo>
                <a:cubicBezTo>
                  <a:pt x="5994204" y="2745205"/>
                  <a:pt x="5996454" y="2915805"/>
                  <a:pt x="6000824" y="3086660"/>
                </a:cubicBezTo>
                <a:cubicBezTo>
                  <a:pt x="6007180" y="3330611"/>
                  <a:pt x="5997382" y="3574689"/>
                  <a:pt x="5986656" y="3818514"/>
                </a:cubicBezTo>
                <a:cubicBezTo>
                  <a:pt x="5983054" y="3885559"/>
                  <a:pt x="5982107" y="3952684"/>
                  <a:pt x="5983808" y="4019746"/>
                </a:cubicBezTo>
                <a:lnTo>
                  <a:pt x="5993788" y="4173418"/>
                </a:lnTo>
                <a:lnTo>
                  <a:pt x="5955106" y="4175101"/>
                </a:lnTo>
                <a:cubicBezTo>
                  <a:pt x="5890100" y="4175133"/>
                  <a:pt x="5825078" y="4173227"/>
                  <a:pt x="5760087" y="4171956"/>
                </a:cubicBezTo>
                <a:cubicBezTo>
                  <a:pt x="5521345" y="4167509"/>
                  <a:pt x="5282477" y="4171956"/>
                  <a:pt x="5044242" y="4149213"/>
                </a:cubicBezTo>
                <a:cubicBezTo>
                  <a:pt x="4979506" y="4143051"/>
                  <a:pt x="4914326" y="4139111"/>
                  <a:pt x="4849272" y="4139890"/>
                </a:cubicBezTo>
                <a:cubicBezTo>
                  <a:pt x="4784218" y="4140668"/>
                  <a:pt x="4719291" y="4146163"/>
                  <a:pt x="4655063" y="4158869"/>
                </a:cubicBezTo>
                <a:cubicBezTo>
                  <a:pt x="4447578" y="4199146"/>
                  <a:pt x="4239457" y="4201688"/>
                  <a:pt x="4029811" y="4185424"/>
                </a:cubicBezTo>
                <a:cubicBezTo>
                  <a:pt x="3943792" y="4178690"/>
                  <a:pt x="3857774" y="4167509"/>
                  <a:pt x="3771375" y="4169669"/>
                </a:cubicBezTo>
                <a:cubicBezTo>
                  <a:pt x="3623225" y="4173608"/>
                  <a:pt x="3474948" y="4165603"/>
                  <a:pt x="3326672" y="4167636"/>
                </a:cubicBezTo>
                <a:cubicBezTo>
                  <a:pt x="3322669" y="4168208"/>
                  <a:pt x="3318578" y="4167674"/>
                  <a:pt x="3314855" y="4166111"/>
                </a:cubicBezTo>
                <a:cubicBezTo>
                  <a:pt x="3278008" y="4140827"/>
                  <a:pt x="3237604" y="4150610"/>
                  <a:pt x="3199487" y="4157217"/>
                </a:cubicBezTo>
                <a:cubicBezTo>
                  <a:pt x="3072810" y="4179198"/>
                  <a:pt x="2946260" y="4189998"/>
                  <a:pt x="2817550" y="4172972"/>
                </a:cubicBezTo>
                <a:cubicBezTo>
                  <a:pt x="2694647" y="4155146"/>
                  <a:pt x="2569990" y="4152923"/>
                  <a:pt x="2446541" y="4166365"/>
                </a:cubicBezTo>
                <a:cubicBezTo>
                  <a:pt x="2276791" y="4186186"/>
                  <a:pt x="2107677" y="4181993"/>
                  <a:pt x="1938308" y="4166365"/>
                </a:cubicBezTo>
                <a:cubicBezTo>
                  <a:pt x="1869570" y="4160013"/>
                  <a:pt x="1799815" y="4149213"/>
                  <a:pt x="1731712" y="4165095"/>
                </a:cubicBezTo>
                <a:cubicBezTo>
                  <a:pt x="1647854" y="4184535"/>
                  <a:pt x="1564250" y="4178182"/>
                  <a:pt x="1480137" y="4173862"/>
                </a:cubicBezTo>
                <a:cubicBezTo>
                  <a:pt x="1373663" y="4168271"/>
                  <a:pt x="1267442" y="4152135"/>
                  <a:pt x="1160586" y="4164841"/>
                </a:cubicBezTo>
                <a:cubicBezTo>
                  <a:pt x="1111161" y="4170685"/>
                  <a:pt x="1062116" y="4179961"/>
                  <a:pt x="1012055" y="4177547"/>
                </a:cubicBezTo>
                <a:cubicBezTo>
                  <a:pt x="873562" y="4171194"/>
                  <a:pt x="735196" y="4163697"/>
                  <a:pt x="596449" y="4164841"/>
                </a:cubicBezTo>
                <a:cubicBezTo>
                  <a:pt x="538383" y="4165222"/>
                  <a:pt x="480699" y="4167128"/>
                  <a:pt x="422887" y="4171321"/>
                </a:cubicBezTo>
                <a:cubicBezTo>
                  <a:pt x="315015" y="4179198"/>
                  <a:pt x="207524" y="4168525"/>
                  <a:pt x="100033" y="4164714"/>
                </a:cubicBezTo>
                <a:lnTo>
                  <a:pt x="0" y="4169195"/>
                </a:lnTo>
                <a:close/>
              </a:path>
            </a:pathLst>
          </a:custGeom>
          <a:noFill/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/>
          <a:srcRect l="6670" r="10393" b="-1"/>
          <a:stretch>
            <a:fillRect/>
          </a:stretch>
        </p:blipFill>
        <p:spPr>
          <a:xfrm>
            <a:off x="6019800" y="12"/>
            <a:ext cx="6172195" cy="4186171"/>
          </a:xfrm>
          <a:custGeom>
            <a:avLst/>
            <a:gdLst/>
            <a:ahLst/>
            <a:cxnLst/>
            <a:rect l="l" t="t" r="r" b="b"/>
            <a:pathLst>
              <a:path w="6009490" h="4186171">
                <a:moveTo>
                  <a:pt x="9049" y="0"/>
                </a:moveTo>
                <a:lnTo>
                  <a:pt x="6009490" y="0"/>
                </a:lnTo>
                <a:lnTo>
                  <a:pt x="6009490" y="4168273"/>
                </a:lnTo>
                <a:lnTo>
                  <a:pt x="5803951" y="4172925"/>
                </a:lnTo>
                <a:cubicBezTo>
                  <a:pt x="5729787" y="4171950"/>
                  <a:pt x="5655658" y="4168322"/>
                  <a:pt x="5581704" y="4162045"/>
                </a:cubicBezTo>
                <a:cubicBezTo>
                  <a:pt x="5474340" y="4154041"/>
                  <a:pt x="5366086" y="4142987"/>
                  <a:pt x="5259485" y="4163316"/>
                </a:cubicBezTo>
                <a:cubicBezTo>
                  <a:pt x="5142465" y="4185805"/>
                  <a:pt x="5025571" y="4185932"/>
                  <a:pt x="4907534" y="4180215"/>
                </a:cubicBezTo>
                <a:cubicBezTo>
                  <a:pt x="4806650" y="4175387"/>
                  <a:pt x="4706147" y="4149975"/>
                  <a:pt x="4604501" y="4176784"/>
                </a:cubicBezTo>
                <a:cubicBezTo>
                  <a:pt x="4594387" y="4178258"/>
                  <a:pt x="4584082" y="4177826"/>
                  <a:pt x="4574133" y="4175514"/>
                </a:cubicBezTo>
                <a:cubicBezTo>
                  <a:pt x="4462958" y="4160140"/>
                  <a:pt x="4351020" y="4172718"/>
                  <a:pt x="4239463" y="4168398"/>
                </a:cubicBezTo>
                <a:cubicBezTo>
                  <a:pt x="4188005" y="4166365"/>
                  <a:pt x="4135530" y="4167509"/>
                  <a:pt x="4084706" y="4162045"/>
                </a:cubicBezTo>
                <a:cubicBezTo>
                  <a:pt x="3968067" y="4149594"/>
                  <a:pt x="3851682" y="4142987"/>
                  <a:pt x="3736314" y="4172337"/>
                </a:cubicBezTo>
                <a:cubicBezTo>
                  <a:pt x="3702643" y="4180253"/>
                  <a:pt x="3668235" y="4184509"/>
                  <a:pt x="3633650" y="4185043"/>
                </a:cubicBezTo>
                <a:cubicBezTo>
                  <a:pt x="3520696" y="4189109"/>
                  <a:pt x="3408122" y="4181358"/>
                  <a:pt x="3295549" y="4175005"/>
                </a:cubicBezTo>
                <a:cubicBezTo>
                  <a:pt x="3217408" y="4170558"/>
                  <a:pt x="3139394" y="4160902"/>
                  <a:pt x="3061127" y="4169034"/>
                </a:cubicBezTo>
                <a:cubicBezTo>
                  <a:pt x="3015640" y="4173735"/>
                  <a:pt x="2969772" y="4173735"/>
                  <a:pt x="2924285" y="4169034"/>
                </a:cubicBezTo>
                <a:cubicBezTo>
                  <a:pt x="2840452" y="4159212"/>
                  <a:pt x="2755870" y="4157382"/>
                  <a:pt x="2671694" y="4163570"/>
                </a:cubicBezTo>
                <a:cubicBezTo>
                  <a:pt x="2546033" y="4174370"/>
                  <a:pt x="2420500" y="4183391"/>
                  <a:pt x="2294459" y="4166238"/>
                </a:cubicBezTo>
                <a:cubicBezTo>
                  <a:pt x="2222976" y="4155006"/>
                  <a:pt x="2150298" y="4153685"/>
                  <a:pt x="2078460" y="4162300"/>
                </a:cubicBezTo>
                <a:cubicBezTo>
                  <a:pt x="1907313" y="4186314"/>
                  <a:pt x="1735785" y="4178563"/>
                  <a:pt x="1564257" y="4168653"/>
                </a:cubicBezTo>
                <a:cubicBezTo>
                  <a:pt x="1449650" y="4161918"/>
                  <a:pt x="1334536" y="4149594"/>
                  <a:pt x="1220183" y="4165857"/>
                </a:cubicBezTo>
                <a:cubicBezTo>
                  <a:pt x="1074321" y="4186186"/>
                  <a:pt x="928331" y="4179452"/>
                  <a:pt x="782087" y="4173481"/>
                </a:cubicBezTo>
                <a:cubicBezTo>
                  <a:pt x="674723" y="4169034"/>
                  <a:pt x="567232" y="4155565"/>
                  <a:pt x="459614" y="4172210"/>
                </a:cubicBezTo>
                <a:cubicBezTo>
                  <a:pt x="448535" y="4173722"/>
                  <a:pt x="437265" y="4172591"/>
                  <a:pt x="426706" y="4168907"/>
                </a:cubicBezTo>
                <a:cubicBezTo>
                  <a:pt x="385869" y="4155464"/>
                  <a:pt x="342085" y="4153660"/>
                  <a:pt x="300283" y="4163697"/>
                </a:cubicBezTo>
                <a:cubicBezTo>
                  <a:pt x="223159" y="4180596"/>
                  <a:pt x="146162" y="4187965"/>
                  <a:pt x="67640" y="4172591"/>
                </a:cubicBezTo>
                <a:lnTo>
                  <a:pt x="14015" y="4169393"/>
                </a:lnTo>
                <a:lnTo>
                  <a:pt x="28554" y="3856095"/>
                </a:lnTo>
                <a:cubicBezTo>
                  <a:pt x="30458" y="3735660"/>
                  <a:pt x="27412" y="3615306"/>
                  <a:pt x="15626" y="3495237"/>
                </a:cubicBezTo>
                <a:cubicBezTo>
                  <a:pt x="-847" y="3348740"/>
                  <a:pt x="-4304" y="3201174"/>
                  <a:pt x="5296" y="3054118"/>
                </a:cubicBezTo>
                <a:cubicBezTo>
                  <a:pt x="11786" y="2969961"/>
                  <a:pt x="18539" y="2885804"/>
                  <a:pt x="22776" y="2801522"/>
                </a:cubicBezTo>
                <a:cubicBezTo>
                  <a:pt x="28180" y="2681630"/>
                  <a:pt x="25173" y="2561524"/>
                  <a:pt x="13771" y="2442014"/>
                </a:cubicBezTo>
                <a:cubicBezTo>
                  <a:pt x="4237" y="2350879"/>
                  <a:pt x="3177" y="2259120"/>
                  <a:pt x="10593" y="2167807"/>
                </a:cubicBezTo>
                <a:cubicBezTo>
                  <a:pt x="25690" y="2012336"/>
                  <a:pt x="9931" y="1856863"/>
                  <a:pt x="5032" y="1701516"/>
                </a:cubicBezTo>
                <a:cubicBezTo>
                  <a:pt x="-3577" y="1415742"/>
                  <a:pt x="20393" y="1130095"/>
                  <a:pt x="9666" y="844320"/>
                </a:cubicBezTo>
                <a:cubicBezTo>
                  <a:pt x="3841" y="702958"/>
                  <a:pt x="16420" y="561723"/>
                  <a:pt x="9666" y="420361"/>
                </a:cubicBezTo>
                <a:cubicBezTo>
                  <a:pt x="4105" y="319805"/>
                  <a:pt x="397" y="219250"/>
                  <a:pt x="4105" y="118568"/>
                </a:cubicBezTo>
                <a:cubicBezTo>
                  <a:pt x="5164" y="91109"/>
                  <a:pt x="5826" y="63523"/>
                  <a:pt x="9534" y="36446"/>
                </a:cubicBezTo>
                <a:close/>
              </a:path>
            </a:pathLst>
          </a:custGeom>
          <a:noFill/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AA187962-999B-B5E7-AD97-8465B956D94B}"/>
              </a:ext>
            </a:extLst>
          </p:cNvPr>
          <p:cNvSpPr/>
          <p:nvPr/>
        </p:nvSpPr>
        <p:spPr>
          <a:xfrm>
            <a:off x="6546056" y="74915"/>
            <a:ext cx="2240280" cy="1068086"/>
          </a:xfrm>
          <a:prstGeom prst="wedgeRoundRectCallout">
            <a:avLst>
              <a:gd name="adj1" fmla="val -209090"/>
              <a:gd name="adj2" fmla="val -1931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2B27F23E-DA23-363F-8D3E-C012475845E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3975" y="131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1;p14" descr="image.png">
            <a:extLst>
              <a:ext uri="{FF2B5EF4-FFF2-40B4-BE49-F238E27FC236}">
                <a16:creationId xmlns:a16="http://schemas.microsoft.com/office/drawing/2014/main" id="{FAD784B7-C58D-01FC-99DC-97192506F1E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3975" y="4531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1;p14" descr="image.png">
            <a:extLst>
              <a:ext uri="{FF2B5EF4-FFF2-40B4-BE49-F238E27FC236}">
                <a16:creationId xmlns:a16="http://schemas.microsoft.com/office/drawing/2014/main" id="{52F06020-A52E-ADE5-91AC-E10186D97C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7503" y="78087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DDF086-248B-DD93-666F-3E2DB2DD101B}"/>
              </a:ext>
            </a:extLst>
          </p:cNvPr>
          <p:cNvSpPr txBox="1"/>
          <p:nvPr/>
        </p:nvSpPr>
        <p:spPr>
          <a:xfrm>
            <a:off x="6858381" y="115578"/>
            <a:ext cx="224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Plan my vacation ✈️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7AE4B-F416-C591-3469-6F4C57A77EC2}"/>
              </a:ext>
            </a:extLst>
          </p:cNvPr>
          <p:cNvSpPr txBox="1"/>
          <p:nvPr/>
        </p:nvSpPr>
        <p:spPr>
          <a:xfrm>
            <a:off x="6892575" y="435185"/>
            <a:ext cx="224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Write my code </a:t>
            </a:r>
            <a:r>
              <a:rPr lang="en-US" sz="1400" dirty="0"/>
              <a:t>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BD1BC-174D-26F3-14C3-097C93F0CA64}"/>
              </a:ext>
            </a:extLst>
          </p:cNvPr>
          <p:cNvSpPr txBox="1"/>
          <p:nvPr/>
        </p:nvSpPr>
        <p:spPr>
          <a:xfrm>
            <a:off x="6926103" y="746690"/>
            <a:ext cx="224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Clear my inbox </a:t>
            </a:r>
            <a:r>
              <a:rPr lang="en-US" sz="1400" dirty="0"/>
              <a:t>📥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E7CDECB6-A47C-AB58-6793-5D374E21F3E8}"/>
              </a:ext>
            </a:extLst>
          </p:cNvPr>
          <p:cNvSpPr/>
          <p:nvPr/>
        </p:nvSpPr>
        <p:spPr>
          <a:xfrm>
            <a:off x="6697503" y="1456481"/>
            <a:ext cx="4280297" cy="2373700"/>
          </a:xfrm>
          <a:prstGeom prst="wedgeRoundRectCallout">
            <a:avLst>
              <a:gd name="adj1" fmla="val -122393"/>
              <a:gd name="adj2" fmla="val -198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86BA77-5D83-0F61-AB3A-3B1F60844768}"/>
              </a:ext>
            </a:extLst>
          </p:cNvPr>
          <p:cNvSpPr txBox="1"/>
          <p:nvPr/>
        </p:nvSpPr>
        <p:spPr>
          <a:xfrm>
            <a:off x="7741920" y="1475244"/>
            <a:ext cx="334899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Monitoring and Observability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Error handing, tracing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Scalability,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Guardrails (policy + safety)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Continuous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Compliance and Audits</a:t>
            </a:r>
          </a:p>
          <a:p>
            <a:r>
              <a:rPr lang="en-US" sz="1500" dirty="0">
                <a:solidFill>
                  <a:schemeClr val="bg1"/>
                </a:solidFill>
              </a:rPr>
              <a:t>	……</a:t>
            </a:r>
          </a:p>
        </p:txBody>
      </p:sp>
      <p:pic>
        <p:nvPicPr>
          <p:cNvPr id="34" name="Graphic 33" descr="Badge Question Mark with solid fill">
            <a:extLst>
              <a:ext uri="{FF2B5EF4-FFF2-40B4-BE49-F238E27FC236}">
                <a16:creationId xmlns:a16="http://schemas.microsoft.com/office/drawing/2014/main" id="{3E39DA6B-60A5-6503-A006-9C9F531E91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1803" y="214227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  <p:bldP spid="14" grpId="0"/>
      <p:bldP spid="21" grpId="0" animBg="1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50E4E-C44A-A22E-9293-E35A1E11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3" y="1709692"/>
            <a:ext cx="3831777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Customer Service Agentic App</a:t>
            </a:r>
            <a:b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(“vibe-coded” app)</a:t>
            </a:r>
            <a:br>
              <a:rPr lang="en-US" sz="37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0E2E9A2F-683F-4547-D83D-1542973C0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6058" y="467208"/>
            <a:ext cx="631848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2D701-6A27-24EA-09CE-5DA5219F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6" y="294538"/>
            <a:ext cx="11647713" cy="1033669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It has separation of concerns, routing, even human-in-the-loop.… But,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45B5B-6F87-A790-E357-8BB3CACB3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44" y="2053754"/>
            <a:ext cx="10461167" cy="2822168"/>
          </a:xfrm>
        </p:spPr>
        <p:txBody>
          <a:bodyPr anchor="ctr">
            <a:normAutofit/>
          </a:bodyPr>
          <a:lstStyle/>
          <a:p>
            <a:pPr algn="ctr"/>
            <a:r>
              <a:rPr lang="en-US" sz="1600" dirty="0"/>
              <a:t>What happens if the backend API is down?</a:t>
            </a:r>
          </a:p>
          <a:p>
            <a:pPr algn="ctr"/>
            <a:r>
              <a:rPr lang="en-US" sz="1600" dirty="0"/>
              <a:t>Where to check the logs? How can I co-relate? </a:t>
            </a:r>
          </a:p>
          <a:p>
            <a:pPr algn="ctr"/>
            <a:r>
              <a:rPr lang="en-US" sz="1600" dirty="0"/>
              <a:t>Did FAQ or Order Agent handle it?</a:t>
            </a:r>
          </a:p>
          <a:p>
            <a:pPr algn="ctr"/>
            <a:r>
              <a:rPr lang="en-US" sz="1600" dirty="0"/>
              <a:t>Was human approval triggered?</a:t>
            </a:r>
          </a:p>
          <a:p>
            <a:pPr algn="ctr"/>
            <a:r>
              <a:rPr lang="en-US" sz="1600" dirty="0"/>
              <a:t>What prompt did the model see?</a:t>
            </a:r>
          </a:p>
          <a:p>
            <a:pPr algn="ctr"/>
            <a:r>
              <a:rPr lang="en-US" sz="1600" dirty="0"/>
              <a:t>How much does this cost for me?</a:t>
            </a:r>
          </a:p>
          <a:p>
            <a:pPr marL="0" indent="0" algn="ctr">
              <a:buNone/>
            </a:pPr>
            <a:r>
              <a:rPr lang="en-US" sz="1600" dirty="0"/>
              <a:t>………</a:t>
            </a:r>
          </a:p>
          <a:p>
            <a:pPr algn="ctr"/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1D176-C876-DA7B-19E3-19255EF29655}"/>
              </a:ext>
            </a:extLst>
          </p:cNvPr>
          <p:cNvSpPr txBox="1"/>
          <p:nvPr/>
        </p:nvSpPr>
        <p:spPr>
          <a:xfrm>
            <a:off x="645919" y="4932134"/>
            <a:ext cx="109001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i="1" dirty="0"/>
              <a:t>“When it works, nobody asks questions. When it fails, everyone asks different ones.”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3885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4DDB-42CE-2BC6-FEAA-F105EDC15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" y="294538"/>
            <a:ext cx="12191998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Production Pillar: Observability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D06371-0346-1D37-D0DB-5F9E569F0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3821" y="1854165"/>
            <a:ext cx="1232807" cy="12328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E767D6-E204-03EA-2C28-B7ABE4E533FA}"/>
              </a:ext>
            </a:extLst>
          </p:cNvPr>
          <p:cNvSpPr txBox="1"/>
          <p:nvPr/>
        </p:nvSpPr>
        <p:spPr>
          <a:xfrm>
            <a:off x="741247" y="2948472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Distributed Tracing</a:t>
            </a:r>
          </a:p>
          <a:p>
            <a:endParaRPr lang="en-US" dirty="0"/>
          </a:p>
        </p:txBody>
      </p:sp>
      <p:pic>
        <p:nvPicPr>
          <p:cNvPr id="11" name="Picture 10" descr="A blue and pink log icon&#10;&#10;AI-generated content may be incorrect.">
            <a:extLst>
              <a:ext uri="{FF2B5EF4-FFF2-40B4-BE49-F238E27FC236}">
                <a16:creationId xmlns:a16="http://schemas.microsoft.com/office/drawing/2014/main" id="{39B71D8F-FDEA-4C71-43F2-5263F13857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478" y="2122218"/>
            <a:ext cx="797382" cy="7973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8C7ED8-CF6D-4297-E9F1-43B0604C2435}"/>
              </a:ext>
            </a:extLst>
          </p:cNvPr>
          <p:cNvSpPr txBox="1"/>
          <p:nvPr/>
        </p:nvSpPr>
        <p:spPr>
          <a:xfrm>
            <a:off x="3414711" y="2902306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Logging</a:t>
            </a:r>
          </a:p>
        </p:txBody>
      </p:sp>
      <p:pic>
        <p:nvPicPr>
          <p:cNvPr id="17" name="Picture 16" descr="A diagram of a company's agent&#10;&#10;AI-generated content may be incorrect.">
            <a:extLst>
              <a:ext uri="{FF2B5EF4-FFF2-40B4-BE49-F238E27FC236}">
                <a16:creationId xmlns:a16="http://schemas.microsoft.com/office/drawing/2014/main" id="{065BEA0F-0EE1-2D9C-E69A-1A68870D0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434" y="1971571"/>
            <a:ext cx="1232807" cy="9480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EEE7B6-6540-4DC3-F9D4-02B7FF1BA4D7}"/>
              </a:ext>
            </a:extLst>
          </p:cNvPr>
          <p:cNvSpPr txBox="1"/>
          <p:nvPr/>
        </p:nvSpPr>
        <p:spPr>
          <a:xfrm>
            <a:off x="6151104" y="2902306"/>
            <a:ext cx="2382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LLM &amp; Agent Tracing</a:t>
            </a:r>
          </a:p>
          <a:p>
            <a:pPr algn="ctr"/>
            <a:endParaRPr lang="en-US" dirty="0"/>
          </a:p>
        </p:txBody>
      </p:sp>
      <p:pic>
        <p:nvPicPr>
          <p:cNvPr id="20" name="Picture 19" descr="A colorful pie chart and graph&#10;&#10;AI-generated content may be incorrect.">
            <a:extLst>
              <a:ext uri="{FF2B5EF4-FFF2-40B4-BE49-F238E27FC236}">
                <a16:creationId xmlns:a16="http://schemas.microsoft.com/office/drawing/2014/main" id="{A0602702-3AA5-84D5-5BC4-EC49859910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844" y="1940419"/>
            <a:ext cx="1010335" cy="10103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90A45A-BE48-BE48-07DE-A743082EB555}"/>
              </a:ext>
            </a:extLst>
          </p:cNvPr>
          <p:cNvSpPr txBox="1"/>
          <p:nvPr/>
        </p:nvSpPr>
        <p:spPr>
          <a:xfrm>
            <a:off x="9311704" y="2902306"/>
            <a:ext cx="238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Metrics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C5818D-331F-DF3B-A649-C18016FACB81}"/>
              </a:ext>
            </a:extLst>
          </p:cNvPr>
          <p:cNvSpPr txBox="1"/>
          <p:nvPr/>
        </p:nvSpPr>
        <p:spPr>
          <a:xfrm>
            <a:off x="459350" y="3711913"/>
            <a:ext cx="11234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Tools and Framework</a:t>
            </a:r>
          </a:p>
        </p:txBody>
      </p:sp>
      <p:pic>
        <p:nvPicPr>
          <p:cNvPr id="41" name="Picture 40" descr="A logo of a telescope&#10;&#10;AI-generated content may be incorrect.">
            <a:extLst>
              <a:ext uri="{FF2B5EF4-FFF2-40B4-BE49-F238E27FC236}">
                <a16:creationId xmlns:a16="http://schemas.microsoft.com/office/drawing/2014/main" id="{9AB7E56D-931E-F92C-91DF-BE733AFEF0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993" y="5269009"/>
            <a:ext cx="1877236" cy="982846"/>
          </a:xfrm>
          <a:prstGeom prst="rect">
            <a:avLst/>
          </a:prstGeom>
        </p:spPr>
      </p:pic>
      <p:pic>
        <p:nvPicPr>
          <p:cNvPr id="43" name="Picture 42" descr="A close-up of a logo&#10;&#10;AI-generated content may be incorrect.">
            <a:extLst>
              <a:ext uri="{FF2B5EF4-FFF2-40B4-BE49-F238E27FC236}">
                <a16:creationId xmlns:a16="http://schemas.microsoft.com/office/drawing/2014/main" id="{85E4973F-4BD6-FB72-18BB-A255E7C042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14" y="4512941"/>
            <a:ext cx="2647580" cy="1323790"/>
          </a:xfrm>
          <a:prstGeom prst="rect">
            <a:avLst/>
          </a:prstGeom>
        </p:spPr>
      </p:pic>
      <p:pic>
        <p:nvPicPr>
          <p:cNvPr id="47" name="Picture 46" descr="A logo of a dog&#10;&#10;AI-generated content may be incorrect.">
            <a:extLst>
              <a:ext uri="{FF2B5EF4-FFF2-40B4-BE49-F238E27FC236}">
                <a16:creationId xmlns:a16="http://schemas.microsoft.com/office/drawing/2014/main" id="{C7373CBC-FD97-84E7-4E34-449269A6B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180" y="4715202"/>
            <a:ext cx="1045230" cy="1045230"/>
          </a:xfrm>
          <a:prstGeom prst="rect">
            <a:avLst/>
          </a:prstGeom>
        </p:spPr>
      </p:pic>
      <p:pic>
        <p:nvPicPr>
          <p:cNvPr id="51" name="Picture 50" descr="A black bird and tools&#10;&#10;AI-generated content may be incorrect.">
            <a:extLst>
              <a:ext uri="{FF2B5EF4-FFF2-40B4-BE49-F238E27FC236}">
                <a16:creationId xmlns:a16="http://schemas.microsoft.com/office/drawing/2014/main" id="{2CDAAAC9-D445-2406-15DE-4A09C821B7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43" y="5269009"/>
            <a:ext cx="1045230" cy="1045230"/>
          </a:xfrm>
          <a:prstGeom prst="rect">
            <a:avLst/>
          </a:prstGeom>
        </p:spPr>
      </p:pic>
      <p:pic>
        <p:nvPicPr>
          <p:cNvPr id="53" name="Picture 52" descr="A logo with a blue and red knot&#10;&#10;AI-generated content may be incorrect.">
            <a:extLst>
              <a:ext uri="{FF2B5EF4-FFF2-40B4-BE49-F238E27FC236}">
                <a16:creationId xmlns:a16="http://schemas.microsoft.com/office/drawing/2014/main" id="{0BC03642-296E-BA8A-BD8A-ACD8F1DDB0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31" y="4209825"/>
            <a:ext cx="1709988" cy="1709988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15ABE9-B697-CB1B-37DF-8240847F27B2}"/>
              </a:ext>
            </a:extLst>
          </p:cNvPr>
          <p:cNvSpPr txBox="1"/>
          <p:nvPr/>
        </p:nvSpPr>
        <p:spPr>
          <a:xfrm>
            <a:off x="8339343" y="6062399"/>
            <a:ext cx="1274312" cy="3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Langsmith</a:t>
            </a:r>
            <a:endParaRPr lang="en-US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9092FCE-44E7-6355-17C9-757CA38599B7}"/>
              </a:ext>
            </a:extLst>
          </p:cNvPr>
          <p:cNvCxnSpPr/>
          <p:nvPr/>
        </p:nvCxnSpPr>
        <p:spPr>
          <a:xfrm>
            <a:off x="741247" y="4321629"/>
            <a:ext cx="10888172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2F7571D-20DD-E12E-332E-66312EBCD733}"/>
              </a:ext>
            </a:extLst>
          </p:cNvPr>
          <p:cNvCxnSpPr/>
          <p:nvPr/>
        </p:nvCxnSpPr>
        <p:spPr>
          <a:xfrm>
            <a:off x="741247" y="3594803"/>
            <a:ext cx="10888172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68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8" grpId="0"/>
      <p:bldP spid="21" grpId="0"/>
      <p:bldP spid="35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724EB-A64F-64CD-AAE1-9888B019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4538"/>
            <a:ext cx="12191995" cy="1033669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We can see everything now — traces, logs, prompts, costs… But,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60F8FE-1C6E-B8CC-37C2-8940E6E0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919" y="1622745"/>
            <a:ext cx="10461167" cy="2822168"/>
          </a:xfrm>
        </p:spPr>
        <p:txBody>
          <a:bodyPr anchor="ctr">
            <a:normAutofit/>
          </a:bodyPr>
          <a:lstStyle/>
          <a:p>
            <a:pPr algn="ctr"/>
            <a:r>
              <a:rPr lang="en-US" sz="1600" dirty="0"/>
              <a:t>Why did the agent give </a:t>
            </a:r>
            <a:r>
              <a:rPr lang="en-US" sz="1600" i="1" dirty="0"/>
              <a:t>this</a:t>
            </a:r>
            <a:r>
              <a:rPr lang="en-US" sz="1600" dirty="0"/>
              <a:t> answer?</a:t>
            </a:r>
          </a:p>
          <a:p>
            <a:pPr algn="ctr"/>
            <a:r>
              <a:rPr lang="en-US" sz="1600" dirty="0"/>
              <a:t>Which document or knowledge did it rely on?</a:t>
            </a:r>
          </a:p>
          <a:p>
            <a:pPr algn="ctr"/>
            <a:r>
              <a:rPr lang="en-US" sz="1600" dirty="0"/>
              <a:t>Was this “really” based on company policy or hallucination?</a:t>
            </a:r>
          </a:p>
          <a:p>
            <a:pPr algn="ctr"/>
            <a:r>
              <a:rPr lang="en-US" sz="1600" dirty="0"/>
              <a:t>Was the information even correct or up-to-date?</a:t>
            </a:r>
          </a:p>
          <a:p>
            <a:pPr algn="ctr"/>
            <a:r>
              <a:rPr lang="en-US" sz="1600" dirty="0"/>
              <a:t>If this is wrong — who do, we blame? The model? The data? Us?</a:t>
            </a:r>
          </a:p>
          <a:p>
            <a:pPr marL="0" indent="0" algn="ctr">
              <a:buNone/>
            </a:pPr>
            <a:r>
              <a:rPr lang="en-US" sz="1600" dirty="0"/>
              <a:t>………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9742B-CC28-AE6B-8057-6569071E3F69}"/>
              </a:ext>
            </a:extLst>
          </p:cNvPr>
          <p:cNvSpPr txBox="1"/>
          <p:nvPr/>
        </p:nvSpPr>
        <p:spPr>
          <a:xfrm>
            <a:off x="645919" y="4932134"/>
            <a:ext cx="109001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/>
              <a:t>“Debugging faults is one skill. Debugging </a:t>
            </a:r>
            <a:r>
              <a:rPr lang="en-US" sz="2000" b="1" i="1" u="sng" dirty="0"/>
              <a:t>truth</a:t>
            </a:r>
            <a:r>
              <a:rPr lang="en-US" sz="2000" b="1" dirty="0"/>
              <a:t> is another.”</a:t>
            </a:r>
          </a:p>
        </p:txBody>
      </p:sp>
    </p:spTree>
    <p:extLst>
      <p:ext uri="{BB962C8B-B14F-4D97-AF65-F5344CB8AC3E}">
        <p14:creationId xmlns:p14="http://schemas.microsoft.com/office/powerpoint/2010/main" val="138258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72F7D-95F3-352B-4868-E354B5407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Production Pillar: RAG (Production-grade)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5B190-D08A-CB40-83B9-DBEFF1FA1F5F}"/>
              </a:ext>
            </a:extLst>
          </p:cNvPr>
          <p:cNvSpPr txBox="1"/>
          <p:nvPr/>
        </p:nvSpPr>
        <p:spPr>
          <a:xfrm>
            <a:off x="459350" y="1891970"/>
            <a:ext cx="88283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Groundedness</a:t>
            </a:r>
            <a:r>
              <a:rPr lang="en-US" dirty="0"/>
              <a:t>, Hallucination Mitigation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Evaluations (evals) and continuous improvement (online/offline)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B45BB-63A6-9633-C25B-097115BD6567}"/>
              </a:ext>
            </a:extLst>
          </p:cNvPr>
          <p:cNvSpPr txBox="1"/>
          <p:nvPr/>
        </p:nvSpPr>
        <p:spPr>
          <a:xfrm>
            <a:off x="459350" y="3711913"/>
            <a:ext cx="11234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Tools and Framework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1378C8-6FA4-14E9-B35C-7F785F371829}"/>
              </a:ext>
            </a:extLst>
          </p:cNvPr>
          <p:cNvCxnSpPr/>
          <p:nvPr/>
        </p:nvCxnSpPr>
        <p:spPr>
          <a:xfrm>
            <a:off x="741247" y="4321629"/>
            <a:ext cx="10888172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4D6402-E38E-8C17-B3B4-FEE0E1FC72F1}"/>
              </a:ext>
            </a:extLst>
          </p:cNvPr>
          <p:cNvCxnSpPr/>
          <p:nvPr/>
        </p:nvCxnSpPr>
        <p:spPr>
          <a:xfrm>
            <a:off x="741247" y="3594803"/>
            <a:ext cx="10888172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DA81CE-B720-6DC4-0AB7-6B97C6024B67}"/>
              </a:ext>
            </a:extLst>
          </p:cNvPr>
          <p:cNvSpPr txBox="1"/>
          <p:nvPr/>
        </p:nvSpPr>
        <p:spPr>
          <a:xfrm>
            <a:off x="1025944" y="6401548"/>
            <a:ext cx="1881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Orchestration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2354B-55AD-0D7B-A62D-CFF342970396}"/>
              </a:ext>
            </a:extLst>
          </p:cNvPr>
          <p:cNvSpPr txBox="1"/>
          <p:nvPr/>
        </p:nvSpPr>
        <p:spPr>
          <a:xfrm>
            <a:off x="4873507" y="6371339"/>
            <a:ext cx="1945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Vector Databases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3271F-44BF-75EB-778F-26786F7A7C56}"/>
              </a:ext>
            </a:extLst>
          </p:cNvPr>
          <p:cNvSpPr txBox="1"/>
          <p:nvPr/>
        </p:nvSpPr>
        <p:spPr>
          <a:xfrm>
            <a:off x="8785310" y="6371339"/>
            <a:ext cx="1945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Evals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DC25D55F-815A-DB17-9824-302436F89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4250" y="4963174"/>
            <a:ext cx="1701354" cy="263280"/>
          </a:xfrm>
          <a:prstGeom prst="rect">
            <a:avLst/>
          </a:prstGeom>
        </p:spPr>
      </p:pic>
      <p:pic>
        <p:nvPicPr>
          <p:cNvPr id="21" name="Picture 2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672A111-AB7F-9026-7E5A-8AA965CB1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888" y="5547702"/>
            <a:ext cx="1516913" cy="618158"/>
          </a:xfrm>
          <a:prstGeom prst="rect">
            <a:avLst/>
          </a:prstGeom>
        </p:spPr>
      </p:pic>
      <p:pic>
        <p:nvPicPr>
          <p:cNvPr id="29" name="Picture 28" descr="A logo of a company&#10;&#10;AI-generated content may be incorrect.">
            <a:extLst>
              <a:ext uri="{FF2B5EF4-FFF2-40B4-BE49-F238E27FC236}">
                <a16:creationId xmlns:a16="http://schemas.microsoft.com/office/drawing/2014/main" id="{41A76459-C281-561D-5FB8-A997A74A90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8" y="4397487"/>
            <a:ext cx="1701354" cy="1307522"/>
          </a:xfrm>
          <a:prstGeom prst="rect">
            <a:avLst/>
          </a:prstGeom>
        </p:spPr>
      </p:pic>
      <p:pic>
        <p:nvPicPr>
          <p:cNvPr id="31" name="Picture 30" descr="A blue cloud with a magnifying glass&#10;&#10;AI-generated content may be incorrect.">
            <a:extLst>
              <a:ext uri="{FF2B5EF4-FFF2-40B4-BE49-F238E27FC236}">
                <a16:creationId xmlns:a16="http://schemas.microsoft.com/office/drawing/2014/main" id="{7B9437E1-B520-1106-2192-7342B59A4E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016" y="4444715"/>
            <a:ext cx="1363557" cy="1049300"/>
          </a:xfrm>
          <a:prstGeom prst="rect">
            <a:avLst/>
          </a:prstGeom>
        </p:spPr>
      </p:pic>
      <p:pic>
        <p:nvPicPr>
          <p:cNvPr id="33" name="Picture 32" descr="A logo with black text&#10;&#10;AI-generated content may be incorrect.">
            <a:extLst>
              <a:ext uri="{FF2B5EF4-FFF2-40B4-BE49-F238E27FC236}">
                <a16:creationId xmlns:a16="http://schemas.microsoft.com/office/drawing/2014/main" id="{B7D47010-3E56-0F2D-00D9-E6B92C893F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504" y="4444715"/>
            <a:ext cx="1363558" cy="1198952"/>
          </a:xfrm>
          <a:prstGeom prst="rect">
            <a:avLst/>
          </a:prstGeom>
        </p:spPr>
      </p:pic>
      <p:pic>
        <p:nvPicPr>
          <p:cNvPr id="35" name="Picture 34" descr="A logo with text on it&#10;&#10;AI-generated content may be incorrect.">
            <a:extLst>
              <a:ext uri="{FF2B5EF4-FFF2-40B4-BE49-F238E27FC236}">
                <a16:creationId xmlns:a16="http://schemas.microsoft.com/office/drawing/2014/main" id="{741ED49B-1C31-0BD0-28E7-1B8A9E5907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082" y="5366955"/>
            <a:ext cx="1776015" cy="1049299"/>
          </a:xfrm>
          <a:prstGeom prst="rect">
            <a:avLst/>
          </a:prstGeom>
        </p:spPr>
      </p:pic>
      <p:pic>
        <p:nvPicPr>
          <p:cNvPr id="37" name="Picture 3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B6D78E9-7249-CCF8-B64C-2B3AF197D3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907" y="4819152"/>
            <a:ext cx="1309539" cy="433155"/>
          </a:xfrm>
          <a:prstGeom prst="rect">
            <a:avLst/>
          </a:prstGeom>
        </p:spPr>
      </p:pic>
      <p:pic>
        <p:nvPicPr>
          <p:cNvPr id="38" name="Picture 37" descr="A black bird and tools&#10;&#10;AI-generated content may be incorrect.">
            <a:extLst>
              <a:ext uri="{FF2B5EF4-FFF2-40B4-BE49-F238E27FC236}">
                <a16:creationId xmlns:a16="http://schemas.microsoft.com/office/drawing/2014/main" id="{05DCE2FF-4352-4368-FE5A-C6DC91FD17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648" y="4470710"/>
            <a:ext cx="1045230" cy="104523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5F2EA64-12F5-EB20-5142-073C9CCFAE73}"/>
              </a:ext>
            </a:extLst>
          </p:cNvPr>
          <p:cNvSpPr txBox="1"/>
          <p:nvPr/>
        </p:nvSpPr>
        <p:spPr>
          <a:xfrm>
            <a:off x="10104499" y="5252307"/>
            <a:ext cx="1274312" cy="3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Langsmith</a:t>
            </a:r>
            <a:endParaRPr lang="en-US" dirty="0"/>
          </a:p>
        </p:txBody>
      </p:sp>
      <p:pic>
        <p:nvPicPr>
          <p:cNvPr id="41" name="Picture 40" descr="A blue squid with a black background&#10;&#10;AI-generated content may be incorrect.">
            <a:extLst>
              <a:ext uri="{FF2B5EF4-FFF2-40B4-BE49-F238E27FC236}">
                <a16:creationId xmlns:a16="http://schemas.microsoft.com/office/drawing/2014/main" id="{31EA0B30-BE2D-BA8C-2673-DC49829DF6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907" y="5334166"/>
            <a:ext cx="1997253" cy="104522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2440067-30BA-BD06-3313-03E540237E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7694" y="5767771"/>
            <a:ext cx="1329610" cy="39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0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7" grpId="0"/>
      <p:bldP spid="9" grpId="0"/>
      <p:bldP spid="13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38BA3-5233-1F6D-DC0B-D8CE61035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The answers are now grounded in our knowledge… But,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E5EAE6-3E24-1ABB-84D0-DEBB93919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399" y="1904806"/>
            <a:ext cx="6171964" cy="4101125"/>
          </a:xfrm>
        </p:spPr>
        <p:txBody>
          <a:bodyPr anchor="ctr">
            <a:normAutofit/>
          </a:bodyPr>
          <a:lstStyle/>
          <a:p>
            <a:r>
              <a:rPr lang="en-US" sz="1600" dirty="0"/>
              <a:t>What if the answer is grounded… but still risky?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Who takes responsibility for high-impact decisions?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What context from past interactions should influence this answer?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What happens if the user comes back tomorrow - do we remember?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Are we consistent across conversations, channels, and time?</a:t>
            </a:r>
          </a:p>
          <a:p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F16AE-0B62-F197-3537-D71BE3A18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97" y="1891970"/>
            <a:ext cx="3600953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91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DCC5B-D06B-69B4-1B45-DC19710C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4538"/>
            <a:ext cx="12191995" cy="1033669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solidFill>
                  <a:srgbClr val="FFFFFF"/>
                </a:solidFill>
              </a:rPr>
              <a:t>Production Pillar: Durability, Persistency, State &amp; HITL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400763-5492-4696-F7E0-81C6F0A0E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9" y="2297549"/>
            <a:ext cx="4950308" cy="3838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86B2F2-525E-665B-87B3-376E4F0A9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70" y="2297549"/>
            <a:ext cx="4684457" cy="383800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4530849F-CA62-088C-534D-CEA3CFA45A3F}"/>
              </a:ext>
            </a:extLst>
          </p:cNvPr>
          <p:cNvSpPr/>
          <p:nvPr/>
        </p:nvSpPr>
        <p:spPr>
          <a:xfrm>
            <a:off x="5798986" y="4068661"/>
            <a:ext cx="858473" cy="7214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3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C4F0C-B6EF-2536-0B0A-68EC442D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0A3C94-2501-0FB4-DF84-E517A1D10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7DE120-CAAF-935E-CE22-250DD4435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3FB3C3-A8B9-294D-63C9-1FBFDF121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296688-6196-8950-8FD7-77F80AF22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2B0676-8C5F-5CCA-F5A3-8697FC6A1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F7BBF-1727-1AA4-7B6B-46636643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4538"/>
            <a:ext cx="12191995" cy="1033669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solidFill>
                  <a:srgbClr val="FFFFFF"/>
                </a:solidFill>
              </a:rPr>
              <a:t>Production Pillar: Human-in-the-Loop &amp; State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4AB37-ECEC-4CA8-012C-0C4F61C9FEEF}"/>
              </a:ext>
            </a:extLst>
          </p:cNvPr>
          <p:cNvSpPr txBox="1"/>
          <p:nvPr/>
        </p:nvSpPr>
        <p:spPr>
          <a:xfrm>
            <a:off x="459350" y="1700592"/>
            <a:ext cx="1147139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State-management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Short-term state (Session memory)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Conversation context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Agent outputs &amp; intermediate decisions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Idempotency &amp; retries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Tools and frameworks -&gt; Redis</a:t>
            </a:r>
          </a:p>
          <a:p>
            <a:pPr lvl="2"/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Long-term state (User / System memory)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User preferences &amp; history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Past decisions &amp; outcomes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Checkpoints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Business rules &amp; learned constraints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Tools and frameworks -&gt;</a:t>
            </a:r>
          </a:p>
          <a:p>
            <a:pPr lvl="2"/>
            <a:r>
              <a:rPr lang="en-US" sz="1600" dirty="0"/>
              <a:t>(PostgreSQL/Azure Cosmos DB)</a:t>
            </a:r>
          </a:p>
          <a:p>
            <a:pPr lvl="2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Human-in-the-Loop (HITL)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Approval gates for high-risk 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Policy &amp; compliance checkpoints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Override and correction workflows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Human feedback as a learning signal</a:t>
            </a:r>
          </a:p>
          <a:p>
            <a:pPr lvl="2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17719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167A9-6918-6BAE-15AF-511D3A446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" y="294538"/>
            <a:ext cx="12192003" cy="1033669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solidFill>
                  <a:srgbClr val="FFFFFF"/>
                </a:solidFill>
              </a:rPr>
              <a:t>Decisions are now accountable and contextual with memory concerns sorted…. But,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F60C78-7B6C-0DDF-8E98-ED505E38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44" y="2053754"/>
            <a:ext cx="10461167" cy="2822168"/>
          </a:xfrm>
        </p:spPr>
        <p:txBody>
          <a:bodyPr anchor="ctr">
            <a:normAutofit/>
          </a:bodyPr>
          <a:lstStyle/>
          <a:p>
            <a:pPr algn="ctr"/>
            <a:r>
              <a:rPr lang="en-US" sz="1600" dirty="0"/>
              <a:t>What if the answer violates policy?</a:t>
            </a:r>
          </a:p>
          <a:p>
            <a:pPr algn="ctr"/>
            <a:r>
              <a:rPr lang="en-US" sz="1600" dirty="0"/>
              <a:t>What if the response leaks PII from retrieved data or memory?</a:t>
            </a:r>
          </a:p>
          <a:p>
            <a:pPr algn="ctr"/>
            <a:r>
              <a:rPr lang="en-US" sz="1600" dirty="0"/>
              <a:t>What if the user intentionally provokes toxic or unsafe behavior?</a:t>
            </a:r>
          </a:p>
          <a:p>
            <a:pPr algn="ctr"/>
            <a:r>
              <a:rPr lang="en-US" sz="1600" dirty="0"/>
              <a:t>Are guardrails consistent across agents, tools, and channels?</a:t>
            </a:r>
          </a:p>
          <a:p>
            <a:pPr algn="ctr"/>
            <a:r>
              <a:rPr lang="en-US" sz="1600" dirty="0"/>
              <a:t>Who enforces “never allowed,” even under pressure?</a:t>
            </a:r>
          </a:p>
          <a:p>
            <a:pPr marL="0" indent="0" algn="ctr">
              <a:buNone/>
            </a:pPr>
            <a:r>
              <a:rPr lang="en-US" sz="1600" dirty="0"/>
              <a:t>………</a:t>
            </a:r>
          </a:p>
          <a:p>
            <a:pPr algn="ctr"/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FE153F-911B-CCC1-256D-BAE4AD7A9CB2}"/>
              </a:ext>
            </a:extLst>
          </p:cNvPr>
          <p:cNvSpPr txBox="1"/>
          <p:nvPr/>
        </p:nvSpPr>
        <p:spPr>
          <a:xfrm>
            <a:off x="645919" y="4932134"/>
            <a:ext cx="109001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i="1" dirty="0"/>
              <a:t>“Production systems fail at the edges - guardrails and policies protects the edges cases.”</a:t>
            </a:r>
          </a:p>
        </p:txBody>
      </p:sp>
    </p:spTree>
    <p:extLst>
      <p:ext uri="{BB962C8B-B14F-4D97-AF65-F5344CB8AC3E}">
        <p14:creationId xmlns:p14="http://schemas.microsoft.com/office/powerpoint/2010/main" val="1407206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88E01-65C2-34C2-B817-8B607D3F1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" y="294538"/>
            <a:ext cx="12192007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Production Pillar: Guardrails &amp; Policies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4AEE1-E73A-C23D-F3F8-36AD3F2774A7}"/>
              </a:ext>
            </a:extLst>
          </p:cNvPr>
          <p:cNvSpPr txBox="1"/>
          <p:nvPr/>
        </p:nvSpPr>
        <p:spPr>
          <a:xfrm>
            <a:off x="459350" y="1700592"/>
            <a:ext cx="1147139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Safety by design (not by convention)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PII Detection &amp; Redaction - Presidio.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Moderation – All user inputs checked for toxicity &amp; prompt injection shields.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Regulatory compliance.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Consistent behavior across all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Production systems fail at the edge - Guardrails protect the edge.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Tools &amp; Frameworks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Cloud / Managed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Azure AI Content Safety + Prompt Shields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Azure OpenAI content filtering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OpenAI Moderation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Open-source / Model-based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NVIDIA </a:t>
            </a:r>
            <a:r>
              <a:rPr lang="en-US" sz="1600" dirty="0" err="1"/>
              <a:t>NeMo</a:t>
            </a:r>
            <a:r>
              <a:rPr lang="en-US" sz="1600" dirty="0"/>
              <a:t> Guardrails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Guardrails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PII / Data Loss Prevention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Presidio (Analyzer + Anonymizer)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Google Cloud DLP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Policy Engines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Open Policy Agent (OPA)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3662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1143D-308A-9283-D8B2-06191D0B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Congrats - You Built an Agent. Now Build a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FD195-9DFD-85C3-9CE6-E2CDEA6486B5}"/>
              </a:ext>
            </a:extLst>
          </p:cNvPr>
          <p:cNvSpPr txBox="1"/>
          <p:nvPr/>
        </p:nvSpPr>
        <p:spPr>
          <a:xfrm>
            <a:off x="459350" y="1891970"/>
            <a:ext cx="1147139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What we covered (the “production spine”)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Observability</a:t>
            </a:r>
            <a:r>
              <a:rPr lang="en-US" sz="2800" dirty="0"/>
              <a:t> (</a:t>
            </a:r>
            <a:r>
              <a:rPr lang="en-US" sz="2800" dirty="0" err="1"/>
              <a:t>OTel</a:t>
            </a:r>
            <a:r>
              <a:rPr lang="en-US" sz="2800" dirty="0"/>
              <a:t>/Jaeger + </a:t>
            </a:r>
            <a:r>
              <a:rPr lang="en-US" sz="2800" dirty="0" err="1"/>
              <a:t>LangSmith</a:t>
            </a:r>
            <a:r>
              <a:rPr lang="en-US" sz="2800" dirty="0"/>
              <a:t> + logs + metrics)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RAG</a:t>
            </a:r>
            <a:r>
              <a:rPr lang="en-US" sz="2800" dirty="0"/>
              <a:t> (grounded answers, explainability, eval loop)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HITL + State</a:t>
            </a:r>
            <a:r>
              <a:rPr lang="en-US" sz="2800" dirty="0"/>
              <a:t> (accountability + short/long-term memory)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Policy &amp; Guardrails</a:t>
            </a:r>
            <a:r>
              <a:rPr lang="en-US" sz="2800" dirty="0"/>
              <a:t> (moderation, PII, toxicity, safety boundaries)</a:t>
            </a:r>
          </a:p>
          <a:p>
            <a:pPr lvl="1"/>
            <a:endParaRPr lang="en-US" sz="2000" dirty="0"/>
          </a:p>
          <a:p>
            <a:r>
              <a:rPr lang="en-US" dirty="0"/>
              <a:t>	</a:t>
            </a:r>
            <a:r>
              <a:rPr lang="en-US"/>
              <a:t>	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</a:t>
            </a:r>
            <a:r>
              <a:rPr lang="en-US" sz="2400" dirty="0"/>
              <a:t>Wait! We still need to sleep well at night...</a:t>
            </a:r>
          </a:p>
          <a:p>
            <a:br>
              <a:rPr lang="en-US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9022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7FC83-50F2-572D-CF24-60F26AC8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D93250-31AF-65BD-1EA9-F575C002C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ABD8F3-B276-9A31-D59C-BA279B26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FC924-C5D7-A48A-03A8-6C2FD0F2F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1D0305-67B7-DD2F-E929-0DA4713F0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E0F6D3-3D48-BCE4-CFFF-7FF4AA5B8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4C23B-E15E-9D4A-9A6D-35816F174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“Sleep Well” Checklist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A9A0D-D504-009C-3498-64B2E5AF6993}"/>
              </a:ext>
            </a:extLst>
          </p:cNvPr>
          <p:cNvSpPr txBox="1"/>
          <p:nvPr/>
        </p:nvSpPr>
        <p:spPr>
          <a:xfrm>
            <a:off x="459350" y="1891970"/>
            <a:ext cx="114713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Reliability</a:t>
            </a:r>
            <a:r>
              <a:rPr lang="en-US" sz="2800" dirty="0"/>
              <a:t>: timeouts, retries, idempotency, graceful degradation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Scalability &amp; cost</a:t>
            </a:r>
            <a:r>
              <a:rPr lang="en-US" sz="2800" dirty="0"/>
              <a:t>: rate limits, caching, queuing, budgets per tenant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Security</a:t>
            </a:r>
            <a:r>
              <a:rPr lang="en-US" sz="2800" dirty="0"/>
              <a:t>: least-privilege tools, secret management, sandboxing, allowlists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Incident response</a:t>
            </a:r>
            <a:r>
              <a:rPr lang="en-US" sz="2800" dirty="0"/>
              <a:t>: runbooks, kill switches, rollback, feature flags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3879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3AD6-2181-D264-C7CA-CF696D4C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5242"/>
            <a:ext cx="12192001" cy="1325563"/>
          </a:xfrm>
        </p:spPr>
        <p:txBody>
          <a:bodyPr/>
          <a:lstStyle/>
          <a:p>
            <a:pPr algn="ctr"/>
            <a:r>
              <a:rPr lang="en-US" dirty="0"/>
              <a:t>And finally, consider you’ve been warned…!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9D11C7-4EFB-68B8-D790-89E13DFA1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717" y="1330805"/>
            <a:ext cx="3949626" cy="30096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A87933-2528-0395-5D84-828D6B4933AF}"/>
              </a:ext>
            </a:extLst>
          </p:cNvPr>
          <p:cNvSpPr txBox="1"/>
          <p:nvPr/>
        </p:nvSpPr>
        <p:spPr>
          <a:xfrm>
            <a:off x="3770839" y="4340496"/>
            <a:ext cx="5188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 - https://simonwillison.net/2025/Jun/16/the-lethal-trifecta/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0872C1-B0CE-8768-16AD-73BD04F26C00}"/>
              </a:ext>
            </a:extLst>
          </p:cNvPr>
          <p:cNvSpPr txBox="1">
            <a:spLocks/>
          </p:cNvSpPr>
          <p:nvPr/>
        </p:nvSpPr>
        <p:spPr>
          <a:xfrm>
            <a:off x="-1" y="5003277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5B9A0-8E5A-3DD4-ADC5-18A61FA0E35E}"/>
              </a:ext>
            </a:extLst>
          </p:cNvPr>
          <p:cNvSpPr txBox="1"/>
          <p:nvPr/>
        </p:nvSpPr>
        <p:spPr>
          <a:xfrm>
            <a:off x="87086" y="5977137"/>
            <a:ext cx="12192000" cy="782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Lato"/>
              </a:rPr>
              <a:t>Deepak Agarwal  &amp;  Niteen Badgujar</a:t>
            </a:r>
          </a:p>
        </p:txBody>
      </p:sp>
    </p:spTree>
    <p:extLst>
      <p:ext uri="{BB962C8B-B14F-4D97-AF65-F5344CB8AC3E}">
        <p14:creationId xmlns:p14="http://schemas.microsoft.com/office/powerpoint/2010/main" val="2312725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5179</TotalTime>
  <Words>799</Words>
  <Application>Microsoft Office PowerPoint</Application>
  <PresentationFormat>Widescreen</PresentationFormat>
  <Paragraphs>137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Lato</vt:lpstr>
      <vt:lpstr>Office Theme</vt:lpstr>
      <vt:lpstr>PowerPoint Presentation</vt:lpstr>
      <vt:lpstr>Customer Service Agentic App  (“vibe-coded” app) </vt:lpstr>
      <vt:lpstr>It has separation of concerns, routing, even human-in-the-loop.… But,</vt:lpstr>
      <vt:lpstr>Production Pillar: Observability</vt:lpstr>
      <vt:lpstr>We can see everything now — traces, logs, prompts, costs… But,</vt:lpstr>
      <vt:lpstr>Production Pillar: RAG (Production-grade)</vt:lpstr>
      <vt:lpstr>The answers are now grounded in our knowledge… But,</vt:lpstr>
      <vt:lpstr>Production Pillar: Durability, Persistency, State &amp; HITL</vt:lpstr>
      <vt:lpstr>Production Pillar: Human-in-the-Loop &amp; State Management</vt:lpstr>
      <vt:lpstr>Decisions are now accountable and contextual with memory concerns sorted…. But,</vt:lpstr>
      <vt:lpstr>Production Pillar: Guardrails &amp; Policies</vt:lpstr>
      <vt:lpstr>Congrats - You Built an Agent. Now Build a System.</vt:lpstr>
      <vt:lpstr>The “Sleep Well” Checklist</vt:lpstr>
      <vt:lpstr>And finally, consider you’ve been warned…!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Agarwal</dc:creator>
  <cp:lastModifiedBy>Deepak Agarwal</cp:lastModifiedBy>
  <cp:revision>279</cp:revision>
  <dcterms:created xsi:type="dcterms:W3CDTF">2025-11-15T16:13:35Z</dcterms:created>
  <dcterms:modified xsi:type="dcterms:W3CDTF">2025-12-20T06:38:18Z</dcterms:modified>
</cp:coreProperties>
</file>